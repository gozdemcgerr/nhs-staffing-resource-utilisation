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58" r:id="rId4"/>
  </p:sldMasterIdLst>
  <p:notesMasterIdLst>
    <p:notesMasterId r:id="rId19"/>
  </p:notesMasterIdLst>
  <p:handoutMasterIdLst>
    <p:handoutMasterId r:id="rId20"/>
  </p:handoutMasterIdLst>
  <p:sldIdLst>
    <p:sldId id="410" r:id="rId5"/>
    <p:sldId id="391" r:id="rId6"/>
    <p:sldId id="383" r:id="rId7"/>
    <p:sldId id="403" r:id="rId8"/>
    <p:sldId id="419" r:id="rId9"/>
    <p:sldId id="418" r:id="rId10"/>
    <p:sldId id="424" r:id="rId11"/>
    <p:sldId id="425" r:id="rId12"/>
    <p:sldId id="431" r:id="rId13"/>
    <p:sldId id="429" r:id="rId14"/>
    <p:sldId id="430" r:id="rId15"/>
    <p:sldId id="434" r:id="rId16"/>
    <p:sldId id="435" r:id="rId17"/>
    <p:sldId id="39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C7BBD0-7171-41FB-BB1F-DC5939D34EE4}" v="557" dt="2024-03-03T18:18:58.895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88868" autoAdjust="0"/>
  </p:normalViewPr>
  <p:slideViewPr>
    <p:cSldViewPr snapToGrid="0">
      <p:cViewPr varScale="1">
        <p:scale>
          <a:sx n="64" d="100"/>
          <a:sy n="64" d="100"/>
        </p:scale>
        <p:origin x="118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3/7/2024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2A173-CEE9-6A1A-A732-09BA1594B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00264A-FF16-94F8-F4AA-4E54150A32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92DBEF-57BF-4F65-9876-7B180FDB6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5AF17-D57F-38F9-8762-15036AA83B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6060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0FCFF-AC53-4CAD-5B17-4882E7D02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1906C-3BA3-6577-C8AD-485DC8C301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86D957-5B1B-9499-DD18-2F1CC87D4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716A0-E2D5-BAE5-9C85-9C49A583CD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72696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EDF38-4945-261D-C515-527049B7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01D6E-06C7-AF20-3DCB-2AC0FC44D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CA511-8AE4-A3BE-9244-887C274F33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EA74E-BC58-DE38-76B9-C152D3C1F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127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61406-44D7-2C16-083D-318F4CD06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6D71A8-B2F3-F899-0A15-97500546C1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728D54-60E6-7C74-D514-1A3EA7359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DC2B9A-57A2-58C6-2984-67F75226D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5669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B7D34-C880-332F-15F2-985CDBE80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A3DDFF-573D-DEC0-0526-31A8232DF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99F83-E957-7992-7B03-D1F67523C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4DD81-6C88-A3C1-AFC0-01DBF43BD2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553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EF81E-085B-3F3A-E99B-841BFA4AC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B1B5F-454D-556A-0F7E-C95E18F51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1E027-E261-C40D-C8E5-B7DC833D30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AF4C9-6D88-D44C-27FB-A77B50D3A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832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3C5E2-CA80-2A53-4E6F-FC006FEE1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2106F-A660-8F43-55FE-61D5B33FA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941987-CF7D-8AD0-7362-2B69137CE7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484D8-8B82-50A5-1467-8EE6C0193B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338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41A7E-4A29-656B-9B96-09038E741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909935-3756-16FB-2E7C-0332F8C30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BB9CC7-67F7-2DFD-D150-6843F6924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C8A77-DF7A-EA6A-41FD-9D9A84F36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508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7CEC-D591-B5C2-A491-ED0B1166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06ABD-1EB6-31F5-831C-1B55FCE09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73245D-44EB-C8F6-A15C-28A77701E7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19118-DB87-8626-501E-EF8D42A1F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9783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6" Type="http://schemas.openxmlformats.org/officeDocument/2006/relationships/image" Target="../media/image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2354" y="869430"/>
            <a:ext cx="7015397" cy="2833889"/>
          </a:xfrm>
        </p:spPr>
        <p:txBody>
          <a:bodyPr/>
          <a:lstStyle/>
          <a:p>
            <a:pPr algn="ctr"/>
            <a:r>
              <a:rPr lang="en-GB" sz="5400" kern="1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NHS: Analysing Staffing and Resource Utilization</a:t>
            </a:r>
            <a:endParaRPr lang="en-US" sz="5400" dirty="0">
              <a:solidFill>
                <a:srgbClr val="002060"/>
              </a:solidFill>
            </a:endParaRPr>
          </a:p>
        </p:txBody>
      </p:sp>
      <p:pic>
        <p:nvPicPr>
          <p:cNvPr id="52" name="Audio 51">
            <a:hlinkClick r:id="" action="ppaction://media"/>
            <a:extLst>
              <a:ext uri="{FF2B5EF4-FFF2-40B4-BE49-F238E27FC236}">
                <a16:creationId xmlns:a16="http://schemas.microsoft.com/office/drawing/2014/main" id="{EAB95313-C8C2-01A5-10AE-629882BCAB1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05"/>
    </mc:Choice>
    <mc:Fallback xmlns="">
      <p:transition spd="slow" advTm="96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NHS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98426" y="2128603"/>
            <a:ext cx="9069674" cy="4317167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GB" b="0" i="0" dirty="0">
              <a:solidFill>
                <a:srgbClr val="0D0D0D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200" b="1" i="0" dirty="0">
                <a:solidFill>
                  <a:schemeClr val="tx2">
                    <a:lumMod val="50000"/>
                  </a:schemeClr>
                </a:solidFill>
                <a:effectLst/>
              </a:rPr>
              <a:t>Efficiently allocate resources to improve effectiveness of the NHS.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200" b="1" i="0" dirty="0">
                <a:solidFill>
                  <a:schemeClr val="tx2">
                    <a:lumMod val="50000"/>
                  </a:schemeClr>
                </a:solidFill>
                <a:effectLst/>
              </a:rPr>
              <a:t>Address capacity needs to meet the demands of the healthcare system.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3200" b="1" i="0" dirty="0">
                <a:solidFill>
                  <a:schemeClr val="tx2">
                    <a:lumMod val="50000"/>
                  </a:schemeClr>
                </a:solidFill>
                <a:effectLst/>
              </a:rPr>
              <a:t>Reduce missed appointments to improve overall efficiency</a:t>
            </a:r>
            <a:r>
              <a:rPr lang="en-GB" sz="2600" b="1" i="0" dirty="0">
                <a:solidFill>
                  <a:schemeClr val="tx2">
                    <a:lumMod val="50000"/>
                  </a:schemeClr>
                </a:solidFill>
                <a:effectLst/>
              </a:rPr>
              <a:t>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62" name="Audio 61">
            <a:hlinkClick r:id="" action="ppaction://media"/>
            <a:extLst>
              <a:ext uri="{FF2B5EF4-FFF2-40B4-BE49-F238E27FC236}">
                <a16:creationId xmlns:a16="http://schemas.microsoft.com/office/drawing/2014/main" id="{0D2C388B-3910-EBB6-A43B-434168CE87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517"/>
    </mc:Choice>
    <mc:Fallback xmlns="">
      <p:transition spd="slow" advTm="185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19270"/>
            <a:ext cx="6787747" cy="1663809"/>
          </a:xfrm>
        </p:spPr>
        <p:txBody>
          <a:bodyPr/>
          <a:lstStyle/>
          <a:p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br>
              <a:rPr lang="en-US" b="1" i="0" dirty="0">
                <a:solidFill>
                  <a:srgbClr val="000000"/>
                </a:solidFill>
                <a:effectLst/>
                <a:latin typeface="Helvetica Neue"/>
              </a:rPr>
            </a:br>
            <a:r>
              <a:rPr lang="en-GB" i="0" dirty="0">
                <a:solidFill>
                  <a:srgbClr val="002060"/>
                </a:solidFill>
                <a:effectLst/>
              </a:rPr>
              <a:t>Key NHS Inquiries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9105446" cy="4119562"/>
          </a:xfrm>
        </p:spPr>
        <p:txBody>
          <a:bodyPr tIns="457200">
            <a:noAutofit/>
          </a:bodyPr>
          <a:lstStyle/>
          <a:p>
            <a:r>
              <a:rPr lang="en-GB" sz="2300" kern="100" dirty="0">
                <a:solidFill>
                  <a:schemeClr val="tx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Should the NHS start looking at increasing staff levels? </a:t>
            </a:r>
          </a:p>
          <a:p>
            <a:r>
              <a:rPr lang="en-GB" sz="2300" kern="100" dirty="0">
                <a:solidFill>
                  <a:schemeClr val="tx2">
                    <a:lumMod val="50000"/>
                  </a:schemeClr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GB" sz="2300" kern="100" dirty="0">
                <a:solidFill>
                  <a:schemeClr val="tx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ow the healthcare professional types differ over time? </a:t>
            </a:r>
          </a:p>
          <a:p>
            <a:r>
              <a:rPr lang="en-GB" sz="2300" kern="100" dirty="0">
                <a:solidFill>
                  <a:schemeClr val="tx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Are there significant changes in the attendance of appointments? </a:t>
            </a:r>
          </a:p>
          <a:p>
            <a:r>
              <a:rPr lang="en-GB" sz="2300" i="0" dirty="0">
                <a:solidFill>
                  <a:schemeClr val="tx2">
                    <a:lumMod val="50000"/>
                  </a:schemeClr>
                </a:solidFill>
                <a:effectLst/>
              </a:rPr>
              <a:t>Are there any trends in time between booking an appointment?</a:t>
            </a:r>
            <a:endParaRPr lang="en-GB" sz="2300" kern="100" dirty="0">
              <a:solidFill>
                <a:schemeClr val="tx2">
                  <a:lumMod val="50000"/>
                </a:schemeClr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sz="2300" kern="100" dirty="0">
                <a:solidFill>
                  <a:schemeClr val="tx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GB" sz="2343" kern="100" dirty="0">
                <a:solidFill>
                  <a:schemeClr val="tx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en-GB" sz="2300" kern="100" dirty="0">
                <a:solidFill>
                  <a:schemeClr val="tx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changes in terms of appointment type and the busiest months?</a:t>
            </a:r>
          </a:p>
          <a:p>
            <a:r>
              <a:rPr lang="en-GB" sz="2300" kern="100" dirty="0">
                <a:solidFill>
                  <a:schemeClr val="tx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 the various service settings compare?</a:t>
            </a:r>
            <a:endParaRPr lang="en-US" sz="23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>
            <a:extLst>
              <a:ext uri="{FF2B5EF4-FFF2-40B4-BE49-F238E27FC236}">
                <a16:creationId xmlns:a16="http://schemas.microsoft.com/office/drawing/2014/main" id="{2712D02D-D438-11BD-5B57-90F3EB75A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87" y="2319130"/>
            <a:ext cx="11184835" cy="4200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6E443BA8-EF18-262B-BE09-7280BAD4C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87" y="202400"/>
            <a:ext cx="11184835" cy="2116730"/>
          </a:xfrm>
        </p:spPr>
        <p:txBody>
          <a:bodyPr/>
          <a:lstStyle/>
          <a:p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br>
              <a:rPr lang="en-GB" sz="4000" dirty="0">
                <a:solidFill>
                  <a:srgbClr val="002060"/>
                </a:solidFill>
                <a:latin typeface="+mn-lt"/>
              </a:rPr>
            </a:br>
            <a:r>
              <a:rPr lang="en-GB" sz="3200" dirty="0">
                <a:solidFill>
                  <a:srgbClr val="0070C0"/>
                </a:solidFill>
                <a:latin typeface="+mn-lt"/>
              </a:rPr>
              <a:t>N</a:t>
            </a:r>
            <a:r>
              <a:rPr lang="en-GB" sz="3200" i="0" dirty="0">
                <a:solidFill>
                  <a:srgbClr val="0070C0"/>
                </a:solidFill>
                <a:effectLst/>
                <a:latin typeface="+mn-lt"/>
              </a:rPr>
              <a:t>HS appointments </a:t>
            </a:r>
            <a:r>
              <a:rPr lang="en-GB" sz="3200" b="0" i="0" dirty="0">
                <a:solidFill>
                  <a:srgbClr val="002060"/>
                </a:solidFill>
                <a:effectLst/>
                <a:latin typeface="+mn-lt"/>
              </a:rPr>
              <a:t>saw a </a:t>
            </a:r>
            <a:r>
              <a:rPr lang="en-GB" sz="3200" i="0" dirty="0">
                <a:solidFill>
                  <a:srgbClr val="0070C0"/>
                </a:solidFill>
                <a:effectLst/>
                <a:latin typeface="+mn-lt"/>
              </a:rPr>
              <a:t>significant drop </a:t>
            </a:r>
            <a:r>
              <a:rPr lang="en-GB" sz="3200" b="0" i="0" dirty="0">
                <a:solidFill>
                  <a:srgbClr val="002060"/>
                </a:solidFill>
                <a:effectLst/>
                <a:latin typeface="+mn-lt"/>
              </a:rPr>
              <a:t>with the first</a:t>
            </a:r>
            <a:r>
              <a:rPr lang="en-GB" sz="3200" i="0" dirty="0">
                <a:solidFill>
                  <a:srgbClr val="0070C0"/>
                </a:solidFill>
                <a:effectLst/>
                <a:latin typeface="+mn-lt"/>
              </a:rPr>
              <a:t> Covid-19 lockdown </a:t>
            </a:r>
            <a:r>
              <a:rPr lang="en-GB" sz="3200" b="0" i="0" dirty="0">
                <a:solidFill>
                  <a:srgbClr val="002060"/>
                </a:solidFill>
                <a:effectLst/>
                <a:latin typeface="+mn-lt"/>
              </a:rPr>
              <a:t>in March 2020. </a:t>
            </a:r>
            <a:br>
              <a:rPr lang="en-GB" sz="2400" b="0" dirty="0">
                <a:solidFill>
                  <a:srgbClr val="002060"/>
                </a:solidFill>
                <a:latin typeface="+mn-lt"/>
              </a:rPr>
            </a:br>
            <a:br>
              <a:rPr lang="en-GB" sz="4000" b="0" i="0" dirty="0">
                <a:solidFill>
                  <a:srgbClr val="002060"/>
                </a:solidFill>
                <a:effectLst/>
                <a:latin typeface="+mn-lt"/>
              </a:rPr>
            </a:br>
            <a:r>
              <a:rPr lang="en-GB" sz="2400" b="0" i="0" dirty="0">
                <a:solidFill>
                  <a:srgbClr val="002060"/>
                </a:solidFill>
                <a:effectLst/>
                <a:latin typeface="+mn-lt"/>
              </a:rPr>
              <a:t>The busiest months, </a:t>
            </a:r>
            <a:r>
              <a:rPr lang="en-GB" sz="2600" i="0" dirty="0">
                <a:solidFill>
                  <a:srgbClr val="0070C0"/>
                </a:solidFill>
                <a:effectLst/>
                <a:latin typeface="+mn-lt"/>
              </a:rPr>
              <a:t>October, November and March, </a:t>
            </a:r>
            <a:r>
              <a:rPr lang="en-GB" sz="2400" b="0" i="0" dirty="0">
                <a:solidFill>
                  <a:srgbClr val="002060"/>
                </a:solidFill>
                <a:effectLst/>
                <a:latin typeface="+mn-lt"/>
              </a:rPr>
              <a:t>after July 2021 by </a:t>
            </a:r>
            <a:r>
              <a:rPr lang="en-GB" sz="2400" i="0" dirty="0">
                <a:solidFill>
                  <a:srgbClr val="0070C0"/>
                </a:solidFill>
                <a:effectLst/>
                <a:latin typeface="+mn-lt"/>
              </a:rPr>
              <a:t>30M</a:t>
            </a:r>
            <a:r>
              <a:rPr lang="en-GB" sz="2400" i="0" dirty="0">
                <a:solidFill>
                  <a:srgbClr val="002060"/>
                </a:solidFill>
                <a:effectLst/>
                <a:latin typeface="+mn-lt"/>
              </a:rPr>
              <a:t>.</a:t>
            </a:r>
            <a:br>
              <a:rPr lang="en-GB" sz="2400" b="0" i="0" dirty="0">
                <a:solidFill>
                  <a:srgbClr val="002060"/>
                </a:solidFill>
                <a:effectLst/>
                <a:latin typeface="+mn-lt"/>
              </a:rPr>
            </a:br>
            <a:endParaRPr lang="en-GB" sz="240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39" name="Audio 38">
            <a:hlinkClick r:id="" action="ppaction://media"/>
            <a:extLst>
              <a:ext uri="{FF2B5EF4-FFF2-40B4-BE49-F238E27FC236}">
                <a16:creationId xmlns:a16="http://schemas.microsoft.com/office/drawing/2014/main" id="{547579E5-67D4-47B0-4525-33CD69CE41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65"/>
    </mc:Choice>
    <mc:Fallback xmlns="">
      <p:transition spd="slow" advTm="330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0491F-4174-4BE4-8961-B38909FC1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F76C72-CE2C-3E7E-896F-9BFB84F6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7319"/>
            <a:ext cx="10972800" cy="1761344"/>
          </a:xfrm>
        </p:spPr>
        <p:txBody>
          <a:bodyPr/>
          <a:lstStyle/>
          <a:p>
            <a:br>
              <a:rPr lang="en-GB" sz="3600" b="0" dirty="0">
                <a:solidFill>
                  <a:srgbClr val="002060"/>
                </a:solidFill>
                <a:latin typeface="+mn-lt"/>
              </a:rPr>
            </a:br>
            <a:br>
              <a:rPr lang="en-GB" sz="3600" b="0" i="0" dirty="0">
                <a:solidFill>
                  <a:srgbClr val="002060"/>
                </a:solidFill>
                <a:effectLst/>
                <a:latin typeface="+mn-lt"/>
              </a:rPr>
            </a:br>
            <a:r>
              <a:rPr lang="en-GB" sz="2800" dirty="0">
                <a:solidFill>
                  <a:schemeClr val="tx2">
                    <a:lumMod val="50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Should the NHS start looking at increasing staff levels?</a:t>
            </a:r>
            <a:br>
              <a:rPr lang="en-GB" sz="3600" b="1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</a:br>
            <a:br>
              <a:rPr lang="en-GB" sz="3600" dirty="0">
                <a:solidFill>
                  <a:srgbClr val="002060"/>
                </a:solidFill>
                <a:latin typeface="+mn-lt"/>
              </a:rPr>
            </a:br>
            <a:r>
              <a:rPr lang="en-GB" sz="3200" i="0" dirty="0">
                <a:solidFill>
                  <a:srgbClr val="0070C0"/>
                </a:solidFill>
                <a:effectLst/>
                <a:latin typeface="+mn-lt"/>
              </a:rPr>
              <a:t>52% </a:t>
            </a:r>
            <a:r>
              <a:rPr lang="en-GB" sz="3200" b="0" i="0" dirty="0">
                <a:solidFill>
                  <a:srgbClr val="002060"/>
                </a:solidFill>
                <a:effectLst/>
                <a:latin typeface="+mn-lt"/>
              </a:rPr>
              <a:t>of the days </a:t>
            </a:r>
            <a:r>
              <a:rPr lang="en-GB" sz="3200" i="0" dirty="0">
                <a:solidFill>
                  <a:srgbClr val="0070C0"/>
                </a:solidFill>
                <a:effectLst/>
                <a:latin typeface="+mn-lt"/>
              </a:rPr>
              <a:t>exceed</a:t>
            </a:r>
            <a:r>
              <a:rPr lang="en-GB" sz="3200" b="0" i="0" dirty="0">
                <a:solidFill>
                  <a:srgbClr val="002060"/>
                </a:solidFill>
                <a:effectLst/>
                <a:latin typeface="+mn-lt"/>
              </a:rPr>
              <a:t> the daily </a:t>
            </a:r>
            <a:r>
              <a:rPr lang="en-GB" sz="3200" i="0" dirty="0">
                <a:solidFill>
                  <a:srgbClr val="0070C0"/>
                </a:solidFill>
                <a:effectLst/>
                <a:latin typeface="+mn-lt"/>
              </a:rPr>
              <a:t>maximum capacity </a:t>
            </a:r>
            <a:r>
              <a:rPr lang="en-GB" sz="3200" b="0" i="0" dirty="0">
                <a:solidFill>
                  <a:srgbClr val="002060"/>
                </a:solidFill>
                <a:effectLst/>
                <a:latin typeface="+mn-lt"/>
              </a:rPr>
              <a:t>of </a:t>
            </a:r>
            <a:r>
              <a:rPr lang="en-GB" sz="3200" i="0" dirty="0">
                <a:solidFill>
                  <a:srgbClr val="0070C0"/>
                </a:solidFill>
                <a:effectLst/>
                <a:latin typeface="+mn-lt"/>
              </a:rPr>
              <a:t>1.2M. </a:t>
            </a:r>
            <a:endParaRPr lang="en-US" sz="32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6150" name="Picture 6">
            <a:extLst>
              <a:ext uri="{FF2B5EF4-FFF2-40B4-BE49-F238E27FC236}">
                <a16:creationId xmlns:a16="http://schemas.microsoft.com/office/drawing/2014/main" id="{E88916EC-BA23-7EAE-6D8F-01B5D3FBE3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2424753"/>
            <a:ext cx="11186823" cy="415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Audio 23">
            <a:hlinkClick r:id="" action="ppaction://media"/>
            <a:extLst>
              <a:ext uri="{FF2B5EF4-FFF2-40B4-BE49-F238E27FC236}">
                <a16:creationId xmlns:a16="http://schemas.microsoft.com/office/drawing/2014/main" id="{2D2A4DCA-2144-84F2-BFB7-4394F3FA0E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46474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628"/>
    </mc:Choice>
    <mc:Fallback xmlns="">
      <p:transition spd="slow" advTm="226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4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FEF5B-23F3-3EB7-E68F-C49C89FEE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0C199EF-CD33-1177-38AC-C39F5A536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004952"/>
          </a:xfrm>
        </p:spPr>
        <p:txBody>
          <a:bodyPr/>
          <a:lstStyle/>
          <a:p>
            <a:r>
              <a:rPr lang="en-GB" sz="3200" i="0" dirty="0">
                <a:solidFill>
                  <a:srgbClr val="0070C0"/>
                </a:solidFill>
                <a:effectLst/>
                <a:latin typeface="+mn-lt"/>
              </a:rPr>
              <a:t>Tuesdays</a:t>
            </a:r>
            <a:r>
              <a:rPr lang="en-GB" sz="3200" b="0" i="0" dirty="0">
                <a:solidFill>
                  <a:srgbClr val="002060"/>
                </a:solidFill>
                <a:effectLst/>
                <a:latin typeface="+mn-lt"/>
              </a:rPr>
              <a:t> emerge as the busiest day, attracting </a:t>
            </a:r>
            <a:r>
              <a:rPr lang="en-GB" sz="3200" i="0" dirty="0">
                <a:solidFill>
                  <a:srgbClr val="0070C0"/>
                </a:solidFill>
                <a:effectLst/>
                <a:latin typeface="+mn-lt"/>
              </a:rPr>
              <a:t>the highest number of appointments</a:t>
            </a:r>
            <a:r>
              <a:rPr lang="en-GB" sz="3200" b="0" i="0" dirty="0">
                <a:solidFill>
                  <a:srgbClr val="002060"/>
                </a:solidFill>
                <a:effectLst/>
                <a:latin typeface="+mn-lt"/>
              </a:rPr>
              <a:t>.</a:t>
            </a:r>
            <a:endParaRPr lang="en-US" sz="320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43C01E4-4684-624A-5F3B-F9D9E76DD1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18" y="2443396"/>
            <a:ext cx="10538085" cy="405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2" name="Audio 41">
            <a:hlinkClick r:id="" action="ppaction://media"/>
            <a:extLst>
              <a:ext uri="{FF2B5EF4-FFF2-40B4-BE49-F238E27FC236}">
                <a16:creationId xmlns:a16="http://schemas.microsoft.com/office/drawing/2014/main" id="{0AD7D17D-1BA8-FA85-FCD3-2E384B4006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737444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894"/>
    </mc:Choice>
    <mc:Fallback xmlns="">
      <p:transition spd="slow" advTm="2289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CC44F-8468-11AD-3F85-D683F8054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0A876E-8DA2-4D9E-5D60-813F46F13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59895"/>
            <a:ext cx="10972800" cy="1868708"/>
          </a:xfrm>
        </p:spPr>
        <p:txBody>
          <a:bodyPr/>
          <a:lstStyle/>
          <a:p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How do the healthcare professional types differ over time?</a:t>
            </a:r>
            <a:br>
              <a:rPr lang="en-GB" sz="2800" dirty="0">
                <a:solidFill>
                  <a:srgbClr val="002060"/>
                </a:solidFill>
              </a:rPr>
            </a:br>
            <a:br>
              <a:rPr lang="en-GB" sz="2800" dirty="0">
                <a:solidFill>
                  <a:srgbClr val="002060"/>
                </a:solidFill>
                <a:latin typeface="+mn-lt"/>
              </a:rPr>
            </a:br>
            <a:r>
              <a:rPr lang="en-GB" sz="3200" b="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</a:rPr>
              <a:t>The number of patients attended to by </a:t>
            </a:r>
            <a:r>
              <a:rPr lang="en-GB" sz="3200" dirty="0">
                <a:solidFill>
                  <a:srgbClr val="0070C0"/>
                </a:solidFill>
                <a:effectLst/>
                <a:latin typeface="+mn-lt"/>
                <a:ea typeface="Aptos" panose="020B0004020202020204" pitchFamily="34" charset="0"/>
              </a:rPr>
              <a:t>Other Practice Staff </a:t>
            </a:r>
            <a:r>
              <a:rPr lang="en-GB" sz="3200" b="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</a:rPr>
              <a:t>saw</a:t>
            </a:r>
            <a:r>
              <a:rPr lang="en-GB" sz="320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</a:rPr>
              <a:t> </a:t>
            </a:r>
            <a:r>
              <a:rPr lang="en-GB" sz="3200" dirty="0">
                <a:solidFill>
                  <a:srgbClr val="0070C0"/>
                </a:solidFill>
                <a:effectLst/>
                <a:latin typeface="+mn-lt"/>
                <a:ea typeface="Aptos" panose="020B0004020202020204" pitchFamily="34" charset="0"/>
              </a:rPr>
              <a:t>a significant increase</a:t>
            </a:r>
            <a:r>
              <a:rPr lang="en-GB" sz="3200" b="0" dirty="0">
                <a:solidFill>
                  <a:srgbClr val="0070C0"/>
                </a:solidFill>
                <a:latin typeface="+mn-lt"/>
                <a:ea typeface="Aptos" panose="020B0004020202020204" pitchFamily="34" charset="0"/>
              </a:rPr>
              <a:t>,</a:t>
            </a:r>
            <a:r>
              <a:rPr lang="en-GB" sz="3200" dirty="0">
                <a:solidFill>
                  <a:srgbClr val="0070C0"/>
                </a:solidFill>
                <a:effectLst/>
                <a:latin typeface="+mn-lt"/>
                <a:ea typeface="Aptos" panose="020B0004020202020204" pitchFamily="34" charset="0"/>
              </a:rPr>
              <a:t>1.3M</a:t>
            </a:r>
            <a:r>
              <a:rPr lang="en-GB" sz="320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</a:rPr>
              <a:t>, </a:t>
            </a:r>
            <a:r>
              <a:rPr lang="en-GB" sz="3200" b="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</a:rPr>
              <a:t>compared to the 600K rise for GPs.</a:t>
            </a:r>
            <a:endParaRPr lang="en-US" sz="3200" b="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11272" name="Picture 8">
            <a:extLst>
              <a:ext uri="{FF2B5EF4-FFF2-40B4-BE49-F238E27FC236}">
                <a16:creationId xmlns:a16="http://schemas.microsoft.com/office/drawing/2014/main" id="{F57E10A2-DC30-C6EC-F647-A0E1CF8D1A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38" y="2488367"/>
            <a:ext cx="10862622" cy="410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3" name="Audio 11272">
            <a:hlinkClick r:id="" action="ppaction://media"/>
            <a:extLst>
              <a:ext uri="{FF2B5EF4-FFF2-40B4-BE49-F238E27FC236}">
                <a16:creationId xmlns:a16="http://schemas.microsoft.com/office/drawing/2014/main" id="{64518857-FE1C-C786-4217-B588205C9A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61758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471"/>
    </mc:Choice>
    <mc:Fallback xmlns="">
      <p:transition spd="slow" advTm="494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127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273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570028-95C9-33D9-DA58-0DEAABF2F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DF41E0-4F55-A242-6085-933E2C0A9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404812"/>
            <a:ext cx="11172919" cy="1573890"/>
          </a:xfrm>
        </p:spPr>
        <p:txBody>
          <a:bodyPr/>
          <a:lstStyle/>
          <a:p>
            <a:r>
              <a:rPr lang="en-GB" sz="2800" dirty="0">
                <a:solidFill>
                  <a:schemeClr val="tx2">
                    <a:lumMod val="50000"/>
                  </a:schemeClr>
                </a:solidFill>
              </a:rPr>
              <a:t>Are there significant changes in the attendance of appointments?</a:t>
            </a:r>
            <a:br>
              <a:rPr lang="en-GB" sz="2800" dirty="0">
                <a:solidFill>
                  <a:srgbClr val="002060"/>
                </a:solidFill>
              </a:rPr>
            </a:br>
            <a:r>
              <a:rPr lang="en-GB" sz="2800" dirty="0">
                <a:solidFill>
                  <a:srgbClr val="002060"/>
                </a:solidFill>
              </a:rPr>
              <a:t> </a:t>
            </a:r>
            <a:br>
              <a:rPr lang="en-GB" dirty="0">
                <a:solidFill>
                  <a:srgbClr val="002060"/>
                </a:solidFill>
              </a:rPr>
            </a:br>
            <a:r>
              <a:rPr lang="en-GB" sz="3200" b="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</a:rPr>
              <a:t>The</a:t>
            </a:r>
            <a:r>
              <a:rPr lang="en-GB" sz="3200" dirty="0">
                <a:solidFill>
                  <a:srgbClr val="0070C0"/>
                </a:solidFill>
                <a:effectLst/>
                <a:latin typeface="+mn-lt"/>
                <a:ea typeface="Aptos" panose="020B0004020202020204" pitchFamily="34" charset="0"/>
              </a:rPr>
              <a:t> positive correlation </a:t>
            </a:r>
            <a:r>
              <a:rPr lang="en-GB" sz="3200" b="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</a:rPr>
              <a:t>between </a:t>
            </a:r>
            <a:r>
              <a:rPr lang="en-GB" sz="3200" dirty="0">
                <a:solidFill>
                  <a:srgbClr val="0070C0"/>
                </a:solidFill>
                <a:effectLst/>
                <a:latin typeface="+mn-lt"/>
                <a:ea typeface="Aptos" panose="020B0004020202020204" pitchFamily="34" charset="0"/>
              </a:rPr>
              <a:t>the busiest months </a:t>
            </a:r>
            <a:r>
              <a:rPr lang="en-GB" sz="3200" b="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</a:rPr>
              <a:t>and </a:t>
            </a:r>
            <a:r>
              <a:rPr lang="en-GB" sz="3200" i="0" dirty="0">
                <a:solidFill>
                  <a:srgbClr val="0070C0"/>
                </a:solidFill>
                <a:effectLst/>
                <a:latin typeface="+mn-lt"/>
              </a:rPr>
              <a:t>DNA status.</a:t>
            </a:r>
            <a:endParaRPr lang="en-US" sz="3200" dirty="0">
              <a:solidFill>
                <a:srgbClr val="0070C0"/>
              </a:solidFill>
              <a:latin typeface="+mn-lt"/>
            </a:endParaRPr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2212B714-9551-CB3C-DA79-B1B5EBE071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2398425"/>
            <a:ext cx="11172919" cy="4054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" name="Audio 40">
            <a:hlinkClick r:id="" action="ppaction://media"/>
            <a:extLst>
              <a:ext uri="{FF2B5EF4-FFF2-40B4-BE49-F238E27FC236}">
                <a16:creationId xmlns:a16="http://schemas.microsoft.com/office/drawing/2014/main" id="{D2490896-5DCA-2F05-2A95-03423727C00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935439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327"/>
    </mc:Choice>
    <mc:Fallback xmlns="">
      <p:transition spd="slow" advTm="1832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1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000D9-B2B6-662A-3E74-5F1A2D53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C5D45D2-BA78-909D-18D0-4CFC480A9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349726"/>
          </a:xfrm>
        </p:spPr>
        <p:txBody>
          <a:bodyPr/>
          <a:lstStyle/>
          <a:p>
            <a:r>
              <a:rPr lang="en-GB" sz="2800" i="0" dirty="0">
                <a:solidFill>
                  <a:schemeClr val="tx2">
                    <a:lumMod val="50000"/>
                  </a:schemeClr>
                </a:solidFill>
                <a:effectLst/>
              </a:rPr>
              <a:t>Are there any trends in time between booking an appointment?</a:t>
            </a:r>
            <a:br>
              <a:rPr lang="en-GB" sz="3200" kern="100" dirty="0">
                <a:solidFill>
                  <a:schemeClr val="tx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3200" b="0" i="0" dirty="0">
                <a:solidFill>
                  <a:srgbClr val="002060"/>
                </a:solidFill>
                <a:effectLst/>
                <a:latin typeface="+mn-lt"/>
              </a:rPr>
            </a:br>
            <a:r>
              <a:rPr lang="en-GB" sz="3200" b="0" i="0" dirty="0">
                <a:solidFill>
                  <a:srgbClr val="002060"/>
                </a:solidFill>
                <a:effectLst/>
                <a:latin typeface="+mn-lt"/>
              </a:rPr>
              <a:t>The </a:t>
            </a:r>
            <a:r>
              <a:rPr lang="en-GB" sz="3200" i="0" dirty="0">
                <a:solidFill>
                  <a:srgbClr val="0070C0"/>
                </a:solidFill>
                <a:effectLst/>
                <a:latin typeface="+mn-lt"/>
              </a:rPr>
              <a:t>positive correlation </a:t>
            </a:r>
            <a:r>
              <a:rPr lang="en-GB" sz="3200" b="0" i="0" dirty="0">
                <a:solidFill>
                  <a:srgbClr val="002060"/>
                </a:solidFill>
                <a:effectLst/>
                <a:latin typeface="+mn-lt"/>
              </a:rPr>
              <a:t>between duration of patient</a:t>
            </a:r>
            <a:r>
              <a:rPr lang="en-GB" sz="3200" b="0" i="0" dirty="0">
                <a:solidFill>
                  <a:srgbClr val="0070C0"/>
                </a:solidFill>
                <a:effectLst/>
                <a:latin typeface="+mn-lt"/>
              </a:rPr>
              <a:t> </a:t>
            </a:r>
            <a:r>
              <a:rPr lang="en-GB" sz="3200" i="0" dirty="0">
                <a:solidFill>
                  <a:srgbClr val="0070C0"/>
                </a:solidFill>
                <a:effectLst/>
                <a:latin typeface="+mn-lt"/>
              </a:rPr>
              <a:t>waiting time </a:t>
            </a:r>
            <a:r>
              <a:rPr lang="en-GB" sz="3200" b="0" i="0" dirty="0">
                <a:solidFill>
                  <a:srgbClr val="002060"/>
                </a:solidFill>
                <a:effectLst/>
                <a:latin typeface="+mn-lt"/>
              </a:rPr>
              <a:t>and </a:t>
            </a:r>
            <a:r>
              <a:rPr lang="en-GB" sz="3200" i="0" dirty="0">
                <a:solidFill>
                  <a:srgbClr val="0070C0"/>
                </a:solidFill>
                <a:effectLst/>
                <a:latin typeface="+mn-lt"/>
              </a:rPr>
              <a:t>DNA status</a:t>
            </a:r>
            <a:r>
              <a:rPr lang="en-GB" sz="3200" b="0" i="0" dirty="0">
                <a:solidFill>
                  <a:srgbClr val="002060"/>
                </a:solidFill>
                <a:effectLst/>
                <a:latin typeface="+mn-lt"/>
              </a:rPr>
              <a:t>.</a:t>
            </a:r>
            <a:endParaRPr lang="en-US" sz="320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12294" name="Picture 6">
            <a:extLst>
              <a:ext uri="{FF2B5EF4-FFF2-40B4-BE49-F238E27FC236}">
                <a16:creationId xmlns:a16="http://schemas.microsoft.com/office/drawing/2014/main" id="{A191B670-CD5C-7D34-EEBB-A6CF8B6CE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2398425"/>
            <a:ext cx="10972800" cy="4272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Audio 20">
            <a:hlinkClick r:id="" action="ppaction://media"/>
            <a:extLst>
              <a:ext uri="{FF2B5EF4-FFF2-40B4-BE49-F238E27FC236}">
                <a16:creationId xmlns:a16="http://schemas.microsoft.com/office/drawing/2014/main" id="{DEAAA569-2DEA-319D-F6CF-D9E46E90FD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257344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673"/>
    </mc:Choice>
    <mc:Fallback xmlns="">
      <p:transition spd="slow" advTm="2867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7F86-C76C-AF6C-2869-01DF1DBA3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DAD12F-0DB8-BD53-6DD4-0B8AC34A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44576"/>
            <a:ext cx="10972800" cy="1409075"/>
          </a:xfrm>
        </p:spPr>
        <p:txBody>
          <a:bodyPr/>
          <a:lstStyle/>
          <a:p>
            <a:r>
              <a:rPr lang="en-GB" sz="2600" kern="100" dirty="0">
                <a:solidFill>
                  <a:schemeClr val="tx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Are there changes in terms of appointment type and the busiest months?</a:t>
            </a:r>
            <a:br>
              <a:rPr lang="en-GB" sz="2600" kern="1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800" kern="100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3200" kern="100" dirty="0">
                <a:solidFill>
                  <a:srgbClr val="0070C0"/>
                </a:solidFill>
                <a:latin typeface="+mn-lt"/>
                <a:cs typeface="Times New Roman" panose="02020603050405020304" pitchFamily="18" charset="0"/>
              </a:rPr>
              <a:t>T</a:t>
            </a:r>
            <a:r>
              <a:rPr lang="en-GB" sz="3200" kern="100" dirty="0">
                <a:solidFill>
                  <a:srgbClr val="0070C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elephone appointments </a:t>
            </a:r>
            <a:r>
              <a:rPr lang="en-GB" sz="3200" b="0" kern="10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saw a </a:t>
            </a:r>
            <a:r>
              <a:rPr lang="en-GB" sz="3200" kern="100" dirty="0">
                <a:solidFill>
                  <a:srgbClr val="0070C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substantial rise of 4.4M</a:t>
            </a:r>
            <a:r>
              <a:rPr lang="en-GB" sz="3200" b="0" kern="10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, while face-to-face app. decreased by 5M.</a:t>
            </a:r>
            <a:endParaRPr lang="en-US" sz="320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3771909A-C157-16AC-6F55-EEACF478C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59" y="2383436"/>
            <a:ext cx="10972801" cy="4196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7" name="Audio 14336">
            <a:hlinkClick r:id="" action="ppaction://media"/>
            <a:extLst>
              <a:ext uri="{FF2B5EF4-FFF2-40B4-BE49-F238E27FC236}">
                <a16:creationId xmlns:a16="http://schemas.microsoft.com/office/drawing/2014/main" id="{78BB7FA8-A8ED-7431-CA05-B44AC8C9680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3582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919"/>
    </mc:Choice>
    <mc:Fallback xmlns="">
      <p:transition spd="slow" advTm="289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433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337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2326E-F213-3FD3-730E-DA573449B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14C14B-CDF3-ED04-AEBF-3CFEBD2B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GB" sz="3200" b="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</a:rPr>
              <a:t>A notable</a:t>
            </a:r>
            <a:r>
              <a:rPr lang="en-GB" sz="3200" dirty="0">
                <a:solidFill>
                  <a:srgbClr val="0070C0"/>
                </a:solidFill>
                <a:effectLst/>
                <a:latin typeface="+mn-lt"/>
                <a:ea typeface="Aptos" panose="020B0004020202020204" pitchFamily="34" charset="0"/>
              </a:rPr>
              <a:t> rise </a:t>
            </a:r>
            <a:r>
              <a:rPr lang="en-GB" sz="3200" b="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</a:rPr>
              <a:t>in both </a:t>
            </a:r>
            <a:r>
              <a:rPr lang="en-GB" sz="3200" dirty="0">
                <a:solidFill>
                  <a:srgbClr val="0070C0"/>
                </a:solidFill>
                <a:effectLst/>
                <a:latin typeface="+mn-lt"/>
                <a:ea typeface="Aptos" panose="020B0004020202020204" pitchFamily="34" charset="0"/>
              </a:rPr>
              <a:t>telephone </a:t>
            </a:r>
            <a:r>
              <a:rPr lang="en-GB" sz="3200" b="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</a:rPr>
              <a:t>and</a:t>
            </a:r>
            <a:r>
              <a:rPr lang="en-GB" sz="3200" dirty="0">
                <a:solidFill>
                  <a:srgbClr val="0070C0"/>
                </a:solidFill>
                <a:effectLst/>
                <a:latin typeface="+mn-lt"/>
                <a:ea typeface="Aptos" panose="020B0004020202020204" pitchFamily="34" charset="0"/>
              </a:rPr>
              <a:t> face-to-face appointments</a:t>
            </a:r>
            <a:r>
              <a:rPr lang="en-GB" sz="3200" b="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</a:rPr>
              <a:t> in the </a:t>
            </a:r>
            <a:r>
              <a:rPr lang="en-GB" sz="3200" dirty="0">
                <a:solidFill>
                  <a:srgbClr val="0070C0"/>
                </a:solidFill>
                <a:effectLst/>
                <a:latin typeface="+mn-lt"/>
                <a:ea typeface="Aptos" panose="020B0004020202020204" pitchFamily="34" charset="0"/>
              </a:rPr>
              <a:t>busiest months</a:t>
            </a:r>
            <a:r>
              <a:rPr lang="en-GB" sz="3200" b="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</a:rPr>
              <a:t>.</a:t>
            </a:r>
            <a:endParaRPr lang="en-US" sz="3200" b="0" dirty="0">
              <a:solidFill>
                <a:srgbClr val="002060"/>
              </a:solidFill>
              <a:latin typeface="+mn-lt"/>
            </a:endParaRPr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CB9FEB4B-2D3A-D081-96C1-4275CC012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" y="2473377"/>
            <a:ext cx="11142938" cy="4205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7" name="Audio 13326">
            <a:hlinkClick r:id="" action="ppaction://media"/>
            <a:extLst>
              <a:ext uri="{FF2B5EF4-FFF2-40B4-BE49-F238E27FC236}">
                <a16:creationId xmlns:a16="http://schemas.microsoft.com/office/drawing/2014/main" id="{B66EF8E9-8855-F349-798A-6B99BEAE7B0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25875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309"/>
    </mc:Choice>
    <mc:Fallback xmlns="">
      <p:transition spd="slow" advTm="293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3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327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554F6-B74F-E094-B9C5-451AB2F9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84008A-30EB-C378-9CED-75A297DF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GB" sz="2800" kern="100" dirty="0">
                <a:solidFill>
                  <a:schemeClr val="tx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How do the various service settings compare?</a:t>
            </a:r>
            <a:br>
              <a:rPr lang="en-GB" sz="2800" kern="100" dirty="0">
                <a:solidFill>
                  <a:schemeClr val="tx2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3200" dirty="0"/>
            </a:br>
            <a:r>
              <a:rPr lang="en-GB" sz="3200" b="0" kern="10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Excluding</a:t>
            </a:r>
            <a:r>
              <a:rPr lang="en-GB" sz="3200" b="0" kern="100" dirty="0">
                <a:solidFill>
                  <a:srgbClr val="00000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3200" kern="100" dirty="0">
                <a:solidFill>
                  <a:srgbClr val="0070C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General Practice, 91.5%, </a:t>
            </a:r>
            <a:r>
              <a:rPr lang="en-GB" sz="3200" b="0" kern="100" dirty="0">
                <a:solidFill>
                  <a:srgbClr val="002060"/>
                </a:solidFill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the appointments in unmapped service settings have exceed 1M</a:t>
            </a:r>
            <a:r>
              <a:rPr lang="en-GB" sz="3200" b="0" kern="100" dirty="0">
                <a:solidFill>
                  <a:srgbClr val="002060"/>
                </a:solidFill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3200" dirty="0">
              <a:solidFill>
                <a:srgbClr val="FF0000"/>
              </a:solidFill>
            </a:endParaRP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FBC13B2B-0B28-D741-AAB2-18401AFE3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70" y="2024743"/>
            <a:ext cx="10809515" cy="4506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Audio 26">
            <a:hlinkClick r:id="" action="ppaction://media"/>
            <a:extLst>
              <a:ext uri="{FF2B5EF4-FFF2-40B4-BE49-F238E27FC236}">
                <a16:creationId xmlns:a16="http://schemas.microsoft.com/office/drawing/2014/main" id="{F1EA2D42-5617-7043-9657-82EAE31D5E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282415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654"/>
    </mc:Choice>
    <mc:Fallback xmlns="">
      <p:transition spd="slow" advTm="206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5F91D-17F6-97EA-F87E-680788EBA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C8D092-FE54-F1B3-037E-43A95F5D7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>
                <a:solidFill>
                  <a:srgbClr val="002060"/>
                </a:solidFill>
              </a:rPr>
              <a:t>Recommendations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3153245-3D47-C551-8C56-F779DF31C3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08683" y="1783080"/>
            <a:ext cx="9938478" cy="4812592"/>
          </a:xfrm>
        </p:spPr>
        <p:txBody>
          <a:bodyPr>
            <a:normAutofit fontScale="40000" lnSpcReduction="20000"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GB" b="1" i="0" dirty="0">
              <a:solidFill>
                <a:srgbClr val="0D0D0D"/>
              </a:solidFill>
              <a:effectLst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6000" b="1" kern="100" dirty="0">
                <a:solidFill>
                  <a:schemeClr val="tx2">
                    <a:lumMod val="7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Increase Early Week Staffing: </a:t>
            </a:r>
            <a:r>
              <a:rPr lang="en-GB" sz="5000" b="1" kern="100" dirty="0">
                <a:solidFill>
                  <a:schemeClr val="tx2">
                    <a:lumMod val="50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Allocate more staff earlier in the week or/and extend staff availability on weekends.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6000" b="1" kern="100" dirty="0">
                <a:solidFill>
                  <a:schemeClr val="tx2">
                    <a:lumMod val="7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Promote Telephone Appointments: </a:t>
            </a:r>
            <a:r>
              <a:rPr lang="en-GB" sz="5000" b="1" kern="100" dirty="0">
                <a:solidFill>
                  <a:schemeClr val="tx2">
                    <a:lumMod val="50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Encourage the use of telephone appointments.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6000" b="1" kern="100" dirty="0">
                <a:solidFill>
                  <a:schemeClr val="tx2">
                    <a:lumMod val="7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Same-Day Appointments: </a:t>
            </a:r>
            <a:r>
              <a:rPr lang="en-GB" sz="5000" b="1" kern="100" dirty="0">
                <a:solidFill>
                  <a:schemeClr val="tx2">
                    <a:lumMod val="50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Prioritize scheduling and promoting same-day appointments or/and keep the time between booking and the actual appointment as short as possible.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GB" sz="6000" b="1" kern="100" dirty="0">
                <a:solidFill>
                  <a:schemeClr val="tx2">
                    <a:lumMod val="7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Patient Preferences: </a:t>
            </a:r>
            <a:r>
              <a:rPr lang="en-GB" sz="5000" b="1" kern="100" dirty="0">
                <a:solidFill>
                  <a:schemeClr val="tx2">
                    <a:lumMod val="50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Conduct consultations with patients to understand their preferences for appointment types and times. 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6000" b="1" kern="100" dirty="0">
                <a:solidFill>
                  <a:schemeClr val="tx2">
                    <a:lumMod val="7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Online Scheduling: </a:t>
            </a:r>
            <a:r>
              <a:rPr lang="en-GB" sz="5000" b="1" kern="100" dirty="0">
                <a:solidFill>
                  <a:schemeClr val="tx2">
                    <a:lumMod val="50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Consider implementing an online scheduling system that allows patients to book appointments conveniently. 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2C71212-F02D-B448-00E6-1BCD002A0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79831BA-FFEE-C1BA-F36B-96E267403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A2B183-1693-898E-D7DC-3E0C591CB09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70577A0-07C8-A6EC-3FCC-0971C2D23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EDD6C33F-59BB-D002-BBC0-3773D8DD2B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879139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36"/>
    </mc:Choice>
    <mc:Fallback xmlns="">
      <p:transition spd="slow" advTm="6723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1" y="4467069"/>
            <a:ext cx="5486400" cy="1344090"/>
          </a:xfrm>
        </p:spPr>
        <p:txBody>
          <a:bodyPr/>
          <a:lstStyle/>
          <a:p>
            <a:r>
              <a:rPr lang="en-US" sz="2800" dirty="0"/>
              <a:t>Gozde McGerr</a:t>
            </a:r>
          </a:p>
          <a:p>
            <a:r>
              <a:rPr lang="en-US" sz="2800" dirty="0"/>
              <a:t>4</a:t>
            </a:r>
            <a:r>
              <a:rPr lang="en-US" sz="2800" baseline="30000" dirty="0"/>
              <a:t>th</a:t>
            </a:r>
            <a:r>
              <a:rPr lang="en-US" sz="2800" dirty="0"/>
              <a:t> March 2024</a:t>
            </a:r>
          </a:p>
        </p:txBody>
      </p:sp>
      <p:pic>
        <p:nvPicPr>
          <p:cNvPr id="19" name="Audio 18">
            <a:hlinkClick r:id="" action="ppaction://media"/>
            <a:extLst>
              <a:ext uri="{FF2B5EF4-FFF2-40B4-BE49-F238E27FC236}">
                <a16:creationId xmlns:a16="http://schemas.microsoft.com/office/drawing/2014/main" id="{F1DF2A05-BE2F-9943-AA42-A5A029CBE4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592"/>
    </mc:Choice>
    <mc:Fallback xmlns="">
      <p:transition spd="slow" advTm="2259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A8A8ECD1-788F-484B-9043-D957FCFDF1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D24F1A-6251-4B9A-A918-7D6F3A8F7E2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0FE134-9032-4C7F-BC57-C7DE3F833363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471</Words>
  <Application>Microsoft Office PowerPoint</Application>
  <PresentationFormat>Widescreen</PresentationFormat>
  <Paragraphs>45</Paragraphs>
  <Slides>14</Slides>
  <Notes>14</Notes>
  <HiddenSlides>1</HiddenSlides>
  <MMClips>13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Calibri</vt:lpstr>
      <vt:lpstr>Franklin Gothic Book</vt:lpstr>
      <vt:lpstr>Franklin Gothic Demi</vt:lpstr>
      <vt:lpstr>Helvetica Neue</vt:lpstr>
      <vt:lpstr>Symbol</vt:lpstr>
      <vt:lpstr>Times New Roman</vt:lpstr>
      <vt:lpstr>Custom</vt:lpstr>
      <vt:lpstr>NHS: Analysing Staffing and Resource Utilization</vt:lpstr>
      <vt:lpstr>NHS Objectives</vt:lpstr>
      <vt:lpstr>        Key NHS Inquiries</vt:lpstr>
      <vt:lpstr>              NHS appointments saw a significant drop with the first Covid-19 lockdown in March 2020.   The busiest months, October, November and March, after July 2021 by 30M. </vt:lpstr>
      <vt:lpstr>  Should the NHS start looking at increasing staff levels?  52% of the days exceed the daily maximum capacity of 1.2M. </vt:lpstr>
      <vt:lpstr>Tuesdays emerge as the busiest day, attracting the highest number of appointments.</vt:lpstr>
      <vt:lpstr>How do the healthcare professional types differ over time?  The number of patients attended to by Other Practice Staff saw a significant increase,1.3M, compared to the 600K rise for GPs.</vt:lpstr>
      <vt:lpstr>Are there significant changes in the attendance of appointments?   The positive correlation between the busiest months and DNA status.</vt:lpstr>
      <vt:lpstr>Are there any trends in time between booking an appointment?  The positive correlation between duration of patient waiting time and DNA status.</vt:lpstr>
      <vt:lpstr>Are there changes in terms of appointment type and the busiest months?  Telephone appointments saw a substantial rise of 4.4M, while face-to-face app. decreased by 5M.</vt:lpstr>
      <vt:lpstr>A notable rise in both telephone and face-to-face appointments in the busiest months.</vt:lpstr>
      <vt:lpstr>How do the various service settings compare?  Excluding General Practice, 91.5%, the appointments in unmapped service settings have exceed 1M.</vt:lpstr>
      <vt:lpstr>Recommendations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2023-12-20T08:12:12Z</dcterms:created>
  <dcterms:modified xsi:type="dcterms:W3CDTF">2024-03-07T22:21:58Z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